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825" y="3008629"/>
            <a:ext cx="5282565" cy="3810"/>
          </a:xfrm>
          <a:custGeom>
            <a:avLst/>
            <a:gdLst/>
            <a:ahLst/>
            <a:cxnLst/>
            <a:rect l="l" t="t" r="r" b="b"/>
            <a:pathLst>
              <a:path w="5282565" h="3810">
                <a:moveTo>
                  <a:pt x="5282044" y="635"/>
                </a:moveTo>
                <a:lnTo>
                  <a:pt x="5279390" y="635"/>
                </a:lnTo>
                <a:lnTo>
                  <a:pt x="5279390" y="0"/>
                </a:lnTo>
                <a:lnTo>
                  <a:pt x="0" y="0"/>
                </a:lnTo>
                <a:lnTo>
                  <a:pt x="0" y="2540"/>
                </a:lnTo>
                <a:lnTo>
                  <a:pt x="736" y="2540"/>
                </a:lnTo>
                <a:lnTo>
                  <a:pt x="736" y="3683"/>
                </a:lnTo>
                <a:lnTo>
                  <a:pt x="3784" y="3683"/>
                </a:lnTo>
                <a:lnTo>
                  <a:pt x="5278983" y="3683"/>
                </a:lnTo>
                <a:lnTo>
                  <a:pt x="5278983" y="2540"/>
                </a:lnTo>
                <a:lnTo>
                  <a:pt x="5279009" y="3683"/>
                </a:lnTo>
                <a:lnTo>
                  <a:pt x="5282044" y="3683"/>
                </a:lnTo>
                <a:lnTo>
                  <a:pt x="5282044" y="635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39825" y="4556759"/>
            <a:ext cx="5282565" cy="4445"/>
          </a:xfrm>
          <a:custGeom>
            <a:avLst/>
            <a:gdLst/>
            <a:ahLst/>
            <a:cxnLst/>
            <a:rect l="l" t="t" r="r" b="b"/>
            <a:pathLst>
              <a:path w="5282565" h="4445">
                <a:moveTo>
                  <a:pt x="5282044" y="1270"/>
                </a:moveTo>
                <a:lnTo>
                  <a:pt x="5279390" y="1270"/>
                </a:lnTo>
                <a:lnTo>
                  <a:pt x="5279390" y="0"/>
                </a:lnTo>
                <a:lnTo>
                  <a:pt x="0" y="0"/>
                </a:lnTo>
                <a:lnTo>
                  <a:pt x="0" y="3175"/>
                </a:lnTo>
                <a:lnTo>
                  <a:pt x="736" y="3175"/>
                </a:lnTo>
                <a:lnTo>
                  <a:pt x="736" y="4318"/>
                </a:lnTo>
                <a:lnTo>
                  <a:pt x="3784" y="4318"/>
                </a:lnTo>
                <a:lnTo>
                  <a:pt x="5278983" y="4318"/>
                </a:lnTo>
                <a:lnTo>
                  <a:pt x="5278983" y="3175"/>
                </a:lnTo>
                <a:lnTo>
                  <a:pt x="5279009" y="4318"/>
                </a:lnTo>
                <a:lnTo>
                  <a:pt x="5282044" y="4318"/>
                </a:lnTo>
                <a:lnTo>
                  <a:pt x="5282044" y="127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7861" y="1039113"/>
            <a:ext cx="5260340" cy="4502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93345">
              <a:lnSpc>
                <a:spcPts val="1850"/>
              </a:lnSpc>
              <a:spcBef>
                <a:spcPts val="225"/>
              </a:spcBef>
            </a:pPr>
            <a:r>
              <a:rPr dirty="0" sz="1600" b="1">
                <a:solidFill>
                  <a:srgbClr val="2D74B5"/>
                </a:solidFill>
                <a:latin typeface="Times New Roman"/>
                <a:cs typeface="Times New Roman"/>
              </a:rPr>
              <a:t>QuickBite:</a:t>
            </a:r>
            <a:r>
              <a:rPr dirty="0" sz="1600" spc="-60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D74B5"/>
                </a:solidFill>
                <a:latin typeface="Times New Roman"/>
                <a:cs typeface="Times New Roman"/>
              </a:rPr>
              <a:t>AI-</a:t>
            </a:r>
            <a:r>
              <a:rPr dirty="0" sz="1600" b="1">
                <a:solidFill>
                  <a:srgbClr val="2D74B5"/>
                </a:solidFill>
                <a:latin typeface="Times New Roman"/>
                <a:cs typeface="Times New Roman"/>
              </a:rPr>
              <a:t>Powered</a:t>
            </a:r>
            <a:r>
              <a:rPr dirty="0" sz="1600" spc="-50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D74B5"/>
                </a:solidFill>
                <a:latin typeface="Times New Roman"/>
                <a:cs typeface="Times New Roman"/>
              </a:rPr>
              <a:t>Healthy</a:t>
            </a:r>
            <a:r>
              <a:rPr dirty="0" sz="1600" spc="-55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D74B5"/>
                </a:solidFill>
                <a:latin typeface="Times New Roman"/>
                <a:cs typeface="Times New Roman"/>
              </a:rPr>
              <a:t>Meal</a:t>
            </a:r>
            <a:r>
              <a:rPr dirty="0" sz="1600" spc="-45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D74B5"/>
                </a:solidFill>
                <a:latin typeface="Times New Roman"/>
                <a:cs typeface="Times New Roman"/>
              </a:rPr>
              <a:t>Suggestions</a:t>
            </a:r>
            <a:r>
              <a:rPr dirty="0" sz="1600" spc="-50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600" b="1">
                <a:solidFill>
                  <a:srgbClr val="2D74B5"/>
                </a:solidFill>
                <a:latin typeface="Times New Roman"/>
                <a:cs typeface="Times New Roman"/>
              </a:rPr>
              <a:t>&amp;</a:t>
            </a:r>
            <a:r>
              <a:rPr dirty="0" sz="1600" spc="-65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600" spc="-10" b="1">
                <a:solidFill>
                  <a:srgbClr val="2D74B5"/>
                </a:solidFill>
                <a:latin typeface="Times New Roman"/>
                <a:cs typeface="Times New Roman"/>
              </a:rPr>
              <a:t>Rapid Delivery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TL;DR</a:t>
            </a:r>
            <a:endParaRPr sz="1300">
              <a:latin typeface="Arial"/>
              <a:cs typeface="Arial"/>
            </a:endParaRPr>
          </a:p>
          <a:p>
            <a:pPr marL="12700" marR="63500">
              <a:lnSpc>
                <a:spcPct val="95500"/>
              </a:lnSpc>
              <a:spcBef>
                <a:spcPts val="645"/>
              </a:spcBef>
            </a:pPr>
            <a:r>
              <a:rPr dirty="0" sz="1100">
                <a:latin typeface="Tahoma"/>
                <a:cs typeface="Tahoma"/>
              </a:rPr>
              <a:t>QuickBite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35">
                <a:latin typeface="Tahoma"/>
                <a:cs typeface="Tahoma"/>
              </a:rPr>
              <a:t>AI-</a:t>
            </a:r>
            <a:r>
              <a:rPr dirty="0" sz="1100">
                <a:latin typeface="Tahoma"/>
                <a:cs typeface="Tahoma"/>
              </a:rPr>
              <a:t>driven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mobile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application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designed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help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busy professionals</a:t>
            </a:r>
            <a:r>
              <a:rPr dirty="0" sz="1100" spc="-25">
                <a:latin typeface="Tahoma"/>
                <a:cs typeface="Tahoma"/>
              </a:rPr>
              <a:t> eat </a:t>
            </a:r>
            <a:r>
              <a:rPr dirty="0" sz="1100">
                <a:latin typeface="Tahoma"/>
                <a:cs typeface="Tahoma"/>
              </a:rPr>
              <a:t>healthier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providing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personalized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recommendations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ultra-</a:t>
            </a:r>
            <a:r>
              <a:rPr dirty="0" sz="1100">
                <a:latin typeface="Tahoma"/>
                <a:cs typeface="Tahoma"/>
              </a:rPr>
              <a:t>fast </a:t>
            </a:r>
            <a:r>
              <a:rPr dirty="0" sz="1100" spc="-10">
                <a:latin typeface="Tahoma"/>
                <a:cs typeface="Tahoma"/>
              </a:rPr>
              <a:t>ingredient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(within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15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minutes).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platform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leverages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real-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a </a:t>
            </a:r>
            <a:r>
              <a:rPr dirty="0" sz="1100">
                <a:latin typeface="Tahoma"/>
                <a:cs typeface="Tahoma"/>
              </a:rPr>
              <a:t>robust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network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eliminate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decision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fatigue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enable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choices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on-</a:t>
            </a:r>
            <a:r>
              <a:rPr dirty="0" sz="1100" spc="-10">
                <a:latin typeface="Tahoma"/>
                <a:cs typeface="Tahoma"/>
              </a:rPr>
              <a:t>demand.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Problem</a:t>
            </a:r>
            <a:r>
              <a:rPr dirty="0" sz="1400" spc="-50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Statement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95500"/>
              </a:lnSpc>
              <a:spcBef>
                <a:spcPts val="625"/>
              </a:spcBef>
            </a:pPr>
            <a:r>
              <a:rPr dirty="0" sz="1100">
                <a:latin typeface="Tahoma"/>
                <a:cs typeface="Tahoma"/>
              </a:rPr>
              <a:t>Busy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professionals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often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struggle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maintain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diet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due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time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constraints, </a:t>
            </a:r>
            <a:r>
              <a:rPr dirty="0" sz="1100">
                <a:latin typeface="Tahoma"/>
                <a:cs typeface="Tahoma"/>
              </a:rPr>
              <a:t>lack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planning,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decision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fatigue.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Traditional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food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services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are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slow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>
                <a:latin typeface="Tahoma"/>
                <a:cs typeface="Tahoma"/>
              </a:rPr>
              <a:t>rarely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optimized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nutritional</a:t>
            </a:r>
            <a:r>
              <a:rPr dirty="0" sz="1100" spc="-10">
                <a:latin typeface="Tahoma"/>
                <a:cs typeface="Tahoma"/>
              </a:rPr>
              <a:t> quality.</a:t>
            </a:r>
            <a:r>
              <a:rPr dirty="0" sz="1100">
                <a:latin typeface="Tahoma"/>
                <a:cs typeface="Tahoma"/>
              </a:rPr>
              <a:t> QuickBite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addresses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these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issues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providing instant,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tailored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suggestions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rapid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access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healthy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meals,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making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nutritious </a:t>
            </a:r>
            <a:r>
              <a:rPr dirty="0" sz="1100">
                <a:latin typeface="Tahoma"/>
                <a:cs typeface="Tahoma"/>
              </a:rPr>
              <a:t>eating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frictionless.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0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Vision</a:t>
            </a:r>
            <a:endParaRPr sz="1400">
              <a:latin typeface="Times New Roman"/>
              <a:cs typeface="Times New Roman"/>
            </a:endParaRPr>
          </a:p>
          <a:p>
            <a:pPr marL="12700" marR="22860">
              <a:lnSpc>
                <a:spcPct val="95500"/>
              </a:lnSpc>
              <a:spcBef>
                <a:spcPts val="620"/>
              </a:spcBef>
            </a:pPr>
            <a:r>
              <a:rPr dirty="0" sz="1100">
                <a:latin typeface="Tahoma"/>
                <a:cs typeface="Tahoma"/>
              </a:rPr>
              <a:t>Empower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every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busy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individual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make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healthier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eating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decisions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without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sacrificing time, taste,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convenience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leveraging</a:t>
            </a:r>
            <a:r>
              <a:rPr dirty="0" sz="1100" spc="-30">
                <a:latin typeface="Tahoma"/>
                <a:cs typeface="Tahoma"/>
              </a:rPr>
              <a:t> AI-</a:t>
            </a:r>
            <a:r>
              <a:rPr dirty="0" sz="1100">
                <a:latin typeface="Tahoma"/>
                <a:cs typeface="Tahoma"/>
              </a:rPr>
              <a:t>driven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personalization 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ultra-</a:t>
            </a:r>
            <a:r>
              <a:rPr dirty="0" sz="1100" spc="-20">
                <a:latin typeface="Tahoma"/>
                <a:cs typeface="Tahoma"/>
              </a:rPr>
              <a:t>fast </a:t>
            </a:r>
            <a:r>
              <a:rPr dirty="0" sz="1100" spc="-10">
                <a:latin typeface="Tahoma"/>
                <a:cs typeface="Tahoma"/>
              </a:rPr>
              <a:t>delivery.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39825" y="5782309"/>
            <a:ext cx="5282565" cy="4445"/>
          </a:xfrm>
          <a:custGeom>
            <a:avLst/>
            <a:gdLst/>
            <a:ahLst/>
            <a:cxnLst/>
            <a:rect l="l" t="t" r="r" b="b"/>
            <a:pathLst>
              <a:path w="5282565" h="4445">
                <a:moveTo>
                  <a:pt x="5282044" y="1270"/>
                </a:moveTo>
                <a:lnTo>
                  <a:pt x="5279390" y="1270"/>
                </a:lnTo>
                <a:lnTo>
                  <a:pt x="5279390" y="0"/>
                </a:lnTo>
                <a:lnTo>
                  <a:pt x="0" y="0"/>
                </a:lnTo>
                <a:lnTo>
                  <a:pt x="0" y="2540"/>
                </a:lnTo>
                <a:lnTo>
                  <a:pt x="736" y="2540"/>
                </a:lnTo>
                <a:lnTo>
                  <a:pt x="736" y="4318"/>
                </a:lnTo>
                <a:lnTo>
                  <a:pt x="3784" y="4318"/>
                </a:lnTo>
                <a:lnTo>
                  <a:pt x="5278983" y="4318"/>
                </a:lnTo>
                <a:lnTo>
                  <a:pt x="5278983" y="2540"/>
                </a:lnTo>
                <a:lnTo>
                  <a:pt x="5279009" y="4318"/>
                </a:lnTo>
                <a:lnTo>
                  <a:pt x="5282044" y="4318"/>
                </a:lnTo>
                <a:lnTo>
                  <a:pt x="5282044" y="127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27861" y="5879324"/>
            <a:ext cx="5284470" cy="192722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Target</a:t>
            </a:r>
            <a:r>
              <a:rPr dirty="0" sz="1400" spc="-30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Users</a:t>
            </a: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/</a:t>
            </a:r>
            <a:r>
              <a:rPr dirty="0" sz="1400" spc="-45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Personas</a:t>
            </a:r>
            <a:endParaRPr sz="1400">
              <a:latin typeface="Times New Roman"/>
              <a:cs typeface="Times New Roman"/>
            </a:endParaRPr>
          </a:p>
          <a:p>
            <a:pPr marL="469900" marR="356870" indent="-228600">
              <a:lnSpc>
                <a:spcPts val="1300"/>
              </a:lnSpc>
              <a:spcBef>
                <a:spcPts val="625"/>
              </a:spcBef>
              <a:buFont typeface="Tahoma"/>
              <a:buChar char="●"/>
              <a:tabLst>
                <a:tab pos="469900" algn="l"/>
              </a:tabLst>
            </a:pPr>
            <a:r>
              <a:rPr dirty="0" sz="1100" b="1">
                <a:latin typeface="Arial"/>
                <a:cs typeface="Arial"/>
              </a:rPr>
              <a:t>Urban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Professionals</a:t>
            </a:r>
            <a:r>
              <a:rPr dirty="0" sz="1100" spc="-10">
                <a:latin typeface="Tahoma"/>
                <a:cs typeface="Tahoma"/>
              </a:rPr>
              <a:t>: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Ages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25-</a:t>
            </a:r>
            <a:r>
              <a:rPr dirty="0" sz="1100">
                <a:latin typeface="Tahoma"/>
                <a:cs typeface="Tahoma"/>
              </a:rPr>
              <a:t>45,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living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metropolitan </a:t>
            </a:r>
            <a:r>
              <a:rPr dirty="0" sz="1100">
                <a:latin typeface="Tahoma"/>
                <a:cs typeface="Tahoma"/>
              </a:rPr>
              <a:t>areas,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seeking </a:t>
            </a:r>
            <a:r>
              <a:rPr dirty="0" sz="1100">
                <a:latin typeface="Tahoma"/>
                <a:cs typeface="Tahoma"/>
              </a:rPr>
              <a:t>convenience</a:t>
            </a:r>
            <a:r>
              <a:rPr dirty="0" sz="1100" spc="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efficiency.</a:t>
            </a:r>
            <a:endParaRPr sz="1100">
              <a:latin typeface="Tahoma"/>
              <a:cs typeface="Tahoma"/>
            </a:endParaRPr>
          </a:p>
          <a:p>
            <a:pPr marL="469900" marR="444500" indent="-228600">
              <a:lnSpc>
                <a:spcPts val="1300"/>
              </a:lnSpc>
              <a:spcBef>
                <a:spcPts val="110"/>
              </a:spcBef>
              <a:buFont typeface="Tahoma"/>
              <a:buChar char="●"/>
              <a:tabLst>
                <a:tab pos="469900" algn="l"/>
              </a:tabLst>
            </a:pPr>
            <a:r>
              <a:rPr dirty="0" sz="1100" spc="-10" b="1">
                <a:latin typeface="Arial"/>
                <a:cs typeface="Arial"/>
              </a:rPr>
              <a:t>Health-</a:t>
            </a:r>
            <a:r>
              <a:rPr dirty="0" sz="1100" b="1">
                <a:latin typeface="Arial"/>
                <a:cs typeface="Arial"/>
              </a:rPr>
              <a:t>Conscious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Individuals</a:t>
            </a:r>
            <a:r>
              <a:rPr dirty="0" sz="1100" spc="-10">
                <a:latin typeface="Tahoma"/>
                <a:cs typeface="Tahoma"/>
              </a:rPr>
              <a:t>: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Those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with </a:t>
            </a:r>
            <a:r>
              <a:rPr dirty="0" sz="1100">
                <a:latin typeface="Tahoma"/>
                <a:cs typeface="Tahoma"/>
              </a:rPr>
              <a:t>active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lifestyles</a:t>
            </a:r>
            <a:r>
              <a:rPr dirty="0" sz="1100" spc="-10">
                <a:latin typeface="Tahoma"/>
                <a:cs typeface="Tahoma"/>
              </a:rPr>
              <a:t> prioritizing nutrition.</a:t>
            </a:r>
            <a:endParaRPr sz="1100">
              <a:latin typeface="Tahoma"/>
              <a:cs typeface="Tahoma"/>
            </a:endParaRPr>
          </a:p>
          <a:p>
            <a:pPr marL="469900" marR="209550" indent="-228600">
              <a:lnSpc>
                <a:spcPts val="1300"/>
              </a:lnSpc>
              <a:spcBef>
                <a:spcPts val="140"/>
              </a:spcBef>
              <a:buFont typeface="Tahoma"/>
              <a:buChar char="●"/>
              <a:tabLst>
                <a:tab pos="469900" algn="l"/>
              </a:tabLst>
            </a:pPr>
            <a:r>
              <a:rPr dirty="0" sz="1100" spc="-10" b="1">
                <a:latin typeface="Arial"/>
                <a:cs typeface="Arial"/>
              </a:rPr>
              <a:t>Time-</a:t>
            </a:r>
            <a:r>
              <a:rPr dirty="0" sz="1100" b="1">
                <a:latin typeface="Arial"/>
                <a:cs typeface="Arial"/>
              </a:rPr>
              <a:t>Pressed</a:t>
            </a:r>
            <a:r>
              <a:rPr dirty="0" sz="1100" spc="2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Parents</a:t>
            </a:r>
            <a:r>
              <a:rPr dirty="0" sz="1100" spc="-10">
                <a:latin typeface="Tahoma"/>
                <a:cs typeface="Tahoma"/>
              </a:rPr>
              <a:t>:</a:t>
            </a:r>
            <a:r>
              <a:rPr dirty="0" sz="1100">
                <a:latin typeface="Tahoma"/>
                <a:cs typeface="Tahoma"/>
              </a:rPr>
              <a:t> Caregivers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needing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quick, wholesome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options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for </a:t>
            </a:r>
            <a:r>
              <a:rPr dirty="0" sz="1100">
                <a:latin typeface="Tahoma"/>
                <a:cs typeface="Tahoma"/>
              </a:rPr>
              <a:t>themselves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their</a:t>
            </a:r>
            <a:r>
              <a:rPr dirty="0" sz="1100" spc="-10">
                <a:latin typeface="Tahoma"/>
                <a:cs typeface="Tahoma"/>
              </a:rPr>
              <a:t> families.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95500"/>
              </a:lnSpc>
              <a:spcBef>
                <a:spcPts val="135"/>
              </a:spcBef>
            </a:pPr>
            <a:r>
              <a:rPr dirty="0" sz="1100" b="1">
                <a:latin typeface="Arial"/>
                <a:cs typeface="Arial"/>
              </a:rPr>
              <a:t>Sample</a:t>
            </a:r>
            <a:r>
              <a:rPr dirty="0" sz="1100" spc="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Persona: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 spc="-25" i="1">
                <a:latin typeface="Arial"/>
                <a:cs typeface="Arial"/>
              </a:rPr>
              <a:t>Name</a:t>
            </a:r>
            <a:r>
              <a:rPr dirty="0" sz="1100" spc="-25">
                <a:latin typeface="Tahoma"/>
                <a:cs typeface="Tahoma"/>
              </a:rPr>
              <a:t>: </a:t>
            </a:r>
            <a:r>
              <a:rPr dirty="0" sz="1100">
                <a:latin typeface="Tahoma"/>
                <a:cs typeface="Tahoma"/>
              </a:rPr>
              <a:t>Alex,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34,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Marketing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Manager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20" i="1">
                <a:latin typeface="Arial"/>
                <a:cs typeface="Arial"/>
              </a:rPr>
              <a:t>Motivation</a:t>
            </a:r>
            <a:r>
              <a:rPr dirty="0" sz="1100" spc="-20">
                <a:latin typeface="Tahoma"/>
                <a:cs typeface="Tahoma"/>
              </a:rPr>
              <a:t>: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Wants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</a:t>
            </a:r>
            <a:r>
              <a:rPr dirty="0" sz="1100" spc="5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maintain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healthy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diet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but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often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ends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skipping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opting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for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fast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food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due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to </a:t>
            </a:r>
            <a:r>
              <a:rPr dirty="0" sz="1100">
                <a:latin typeface="Tahoma"/>
                <a:cs typeface="Tahoma"/>
              </a:rPr>
              <a:t>time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constraints.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39825" y="8049894"/>
            <a:ext cx="5282565" cy="5715"/>
          </a:xfrm>
          <a:custGeom>
            <a:avLst/>
            <a:gdLst/>
            <a:ahLst/>
            <a:cxnLst/>
            <a:rect l="l" t="t" r="r" b="b"/>
            <a:pathLst>
              <a:path w="5282565" h="5715">
                <a:moveTo>
                  <a:pt x="5282044" y="2286"/>
                </a:moveTo>
                <a:lnTo>
                  <a:pt x="5279390" y="2286"/>
                </a:lnTo>
                <a:lnTo>
                  <a:pt x="5279390" y="0"/>
                </a:lnTo>
                <a:lnTo>
                  <a:pt x="0" y="0"/>
                </a:lnTo>
                <a:lnTo>
                  <a:pt x="0" y="3175"/>
                </a:lnTo>
                <a:lnTo>
                  <a:pt x="736" y="3175"/>
                </a:lnTo>
                <a:lnTo>
                  <a:pt x="736" y="5334"/>
                </a:lnTo>
                <a:lnTo>
                  <a:pt x="3784" y="5334"/>
                </a:lnTo>
                <a:lnTo>
                  <a:pt x="5278983" y="5334"/>
                </a:lnTo>
                <a:lnTo>
                  <a:pt x="5278983" y="3175"/>
                </a:lnTo>
                <a:lnTo>
                  <a:pt x="5279009" y="5334"/>
                </a:lnTo>
                <a:lnTo>
                  <a:pt x="5282044" y="5334"/>
                </a:lnTo>
                <a:lnTo>
                  <a:pt x="5282044" y="2286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7861" y="8147671"/>
            <a:ext cx="4998720" cy="1424305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Market</a:t>
            </a:r>
            <a:r>
              <a:rPr dirty="0" sz="1400" spc="-60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Opportunity</a:t>
            </a:r>
            <a:endParaRPr sz="1400">
              <a:latin typeface="Times New Roman"/>
              <a:cs typeface="Times New Roman"/>
            </a:endParaRPr>
          </a:p>
          <a:p>
            <a:pPr marL="469900" marR="5080" indent="-228600">
              <a:lnSpc>
                <a:spcPts val="1270"/>
              </a:lnSpc>
              <a:spcBef>
                <a:spcPts val="645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global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kit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market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exceeded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$15B in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2023, </a:t>
            </a:r>
            <a:r>
              <a:rPr dirty="0" sz="1100" spc="-25">
                <a:latin typeface="Tahoma"/>
                <a:cs typeface="Tahoma"/>
              </a:rPr>
              <a:t>with </a:t>
            </a:r>
            <a:r>
              <a:rPr dirty="0" sz="1100" spc="-10">
                <a:latin typeface="Tahoma"/>
                <a:cs typeface="Tahoma"/>
              </a:rPr>
              <a:t>growing </a:t>
            </a:r>
            <a:r>
              <a:rPr dirty="0" sz="1100">
                <a:latin typeface="Tahoma"/>
                <a:cs typeface="Tahoma"/>
              </a:rPr>
              <a:t>trends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toward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convenience.</a:t>
            </a:r>
            <a:endParaRPr sz="1100">
              <a:latin typeface="Tahoma"/>
              <a:cs typeface="Tahoma"/>
            </a:endParaRPr>
          </a:p>
          <a:p>
            <a:pPr marL="469900" marR="245745" indent="-228600">
              <a:lnSpc>
                <a:spcPts val="1280"/>
              </a:lnSpc>
              <a:spcBef>
                <a:spcPts val="190"/>
              </a:spcBef>
              <a:buChar char="●"/>
              <a:tabLst>
                <a:tab pos="469900" algn="l"/>
              </a:tabLst>
            </a:pPr>
            <a:r>
              <a:rPr dirty="0" sz="1100" spc="-20">
                <a:latin typeface="Tahoma"/>
                <a:cs typeface="Tahoma"/>
              </a:rPr>
              <a:t>60%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working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professionals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cite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lack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50">
                <a:latin typeface="Tahoma"/>
                <a:cs typeface="Tahoma"/>
              </a:rPr>
              <a:t>as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leading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reason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for </a:t>
            </a:r>
            <a:r>
              <a:rPr dirty="0" sz="1100">
                <a:latin typeface="Tahoma"/>
                <a:cs typeface="Tahoma"/>
              </a:rPr>
              <a:t>unhealthy</a:t>
            </a:r>
            <a:r>
              <a:rPr dirty="0" sz="1100" spc="-8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eating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habits.</a:t>
            </a:r>
            <a:endParaRPr sz="1100">
              <a:latin typeface="Tahoma"/>
              <a:cs typeface="Tahoma"/>
            </a:endParaRPr>
          </a:p>
          <a:p>
            <a:pPr marL="469900" marR="153670" indent="-228600">
              <a:lnSpc>
                <a:spcPts val="1270"/>
              </a:lnSpc>
              <a:spcBef>
                <a:spcPts val="185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Competitors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focus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either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kits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speed,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but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rarely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both </a:t>
            </a:r>
            <a:r>
              <a:rPr dirty="0" sz="1100">
                <a:latin typeface="Tahoma"/>
                <a:cs typeface="Tahoma"/>
              </a:rPr>
              <a:t>individualized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suggestions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 </a:t>
            </a:r>
            <a:r>
              <a:rPr dirty="0" sz="1100" spc="-25">
                <a:latin typeface="Tahoma"/>
                <a:cs typeface="Tahoma"/>
              </a:rPr>
              <a:t>ultra-</a:t>
            </a:r>
            <a:r>
              <a:rPr dirty="0" sz="1100">
                <a:latin typeface="Tahoma"/>
                <a:cs typeface="Tahoma"/>
              </a:rPr>
              <a:t>fast</a:t>
            </a:r>
            <a:r>
              <a:rPr dirty="0" sz="1100" spc="-10">
                <a:latin typeface="Tahoma"/>
                <a:cs typeface="Tahoma"/>
              </a:rPr>
              <a:t> fulfillment.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825" y="1386839"/>
            <a:ext cx="5282565" cy="3810"/>
          </a:xfrm>
          <a:custGeom>
            <a:avLst/>
            <a:gdLst/>
            <a:ahLst/>
            <a:cxnLst/>
            <a:rect l="l" t="t" r="r" b="b"/>
            <a:pathLst>
              <a:path w="5282565" h="3809">
                <a:moveTo>
                  <a:pt x="5282044" y="254"/>
                </a:moveTo>
                <a:lnTo>
                  <a:pt x="5279390" y="254"/>
                </a:lnTo>
                <a:lnTo>
                  <a:pt x="5279390" y="0"/>
                </a:lnTo>
                <a:lnTo>
                  <a:pt x="0" y="0"/>
                </a:lnTo>
                <a:lnTo>
                  <a:pt x="0" y="3175"/>
                </a:lnTo>
                <a:lnTo>
                  <a:pt x="736" y="3175"/>
                </a:lnTo>
                <a:lnTo>
                  <a:pt x="736" y="3302"/>
                </a:lnTo>
                <a:lnTo>
                  <a:pt x="3784" y="3302"/>
                </a:lnTo>
                <a:lnTo>
                  <a:pt x="5278983" y="3302"/>
                </a:lnTo>
                <a:lnTo>
                  <a:pt x="5278983" y="3175"/>
                </a:lnTo>
                <a:lnTo>
                  <a:pt x="5279009" y="3302"/>
                </a:lnTo>
                <a:lnTo>
                  <a:pt x="5282044" y="3302"/>
                </a:lnTo>
                <a:lnTo>
                  <a:pt x="5282044" y="25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39825" y="7973694"/>
            <a:ext cx="5282565" cy="5080"/>
          </a:xfrm>
          <a:custGeom>
            <a:avLst/>
            <a:gdLst/>
            <a:ahLst/>
            <a:cxnLst/>
            <a:rect l="l" t="t" r="r" b="b"/>
            <a:pathLst>
              <a:path w="5282565" h="5079">
                <a:moveTo>
                  <a:pt x="5282044" y="2044"/>
                </a:moveTo>
                <a:lnTo>
                  <a:pt x="5279390" y="2044"/>
                </a:lnTo>
                <a:lnTo>
                  <a:pt x="5279390" y="0"/>
                </a:lnTo>
                <a:lnTo>
                  <a:pt x="0" y="0"/>
                </a:lnTo>
                <a:lnTo>
                  <a:pt x="0" y="3175"/>
                </a:lnTo>
                <a:lnTo>
                  <a:pt x="736" y="3175"/>
                </a:lnTo>
                <a:lnTo>
                  <a:pt x="736" y="5080"/>
                </a:lnTo>
                <a:lnTo>
                  <a:pt x="3784" y="5080"/>
                </a:lnTo>
                <a:lnTo>
                  <a:pt x="5278983" y="5080"/>
                </a:lnTo>
                <a:lnTo>
                  <a:pt x="5278983" y="3175"/>
                </a:lnTo>
                <a:lnTo>
                  <a:pt x="5279009" y="5080"/>
                </a:lnTo>
                <a:lnTo>
                  <a:pt x="5282044" y="5080"/>
                </a:lnTo>
                <a:lnTo>
                  <a:pt x="5282044" y="204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7861" y="892809"/>
            <a:ext cx="5293360" cy="887095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469900" marR="397510" indent="-228600">
              <a:lnSpc>
                <a:spcPts val="1270"/>
              </a:lnSpc>
              <a:spcBef>
                <a:spcPts val="185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QuickBite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differentiates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itself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combining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intelligence,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nutrition,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and </a:t>
            </a:r>
            <a:r>
              <a:rPr dirty="0" sz="1100">
                <a:latin typeface="Tahoma"/>
                <a:cs typeface="Tahoma"/>
              </a:rPr>
              <a:t>speed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single</a:t>
            </a:r>
            <a:r>
              <a:rPr dirty="0" sz="1100" spc="-10">
                <a:latin typeface="Tahoma"/>
                <a:cs typeface="Tahoma"/>
              </a:rPr>
              <a:t> platform.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Char char="●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Font typeface="Tahoma"/>
              <a:buChar char="●"/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User</a:t>
            </a:r>
            <a:r>
              <a:rPr dirty="0" sz="1400" spc="-25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spc="-20" b="1">
                <a:solidFill>
                  <a:srgbClr val="2D74B5"/>
                </a:solidFill>
                <a:latin typeface="Times New Roman"/>
                <a:cs typeface="Times New Roman"/>
              </a:rPr>
              <a:t>Flow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100" b="1">
                <a:latin typeface="Arial"/>
                <a:cs typeface="Arial"/>
              </a:rPr>
              <a:t>Entry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Point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&amp;</a:t>
            </a:r>
            <a:r>
              <a:rPr dirty="0" sz="1100" spc="-10" b="1">
                <a:latin typeface="Arial"/>
                <a:cs typeface="Arial"/>
              </a:rPr>
              <a:t> First-</a:t>
            </a:r>
            <a:r>
              <a:rPr dirty="0" sz="1100" b="1">
                <a:latin typeface="Arial"/>
                <a:cs typeface="Arial"/>
              </a:rPr>
              <a:t>Time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User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Experience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01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downloads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QuickBite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app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creates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account.</a:t>
            </a:r>
            <a:endParaRPr sz="1100">
              <a:latin typeface="Tahoma"/>
              <a:cs typeface="Tahoma"/>
            </a:endParaRPr>
          </a:p>
          <a:p>
            <a:pPr marL="469900" marR="510540" indent="-228600">
              <a:lnSpc>
                <a:spcPts val="1270"/>
              </a:lnSpc>
              <a:spcBef>
                <a:spcPts val="225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App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prompts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dietary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preferences, </a:t>
            </a:r>
            <a:r>
              <a:rPr dirty="0" sz="1100" spc="-10">
                <a:latin typeface="Tahoma"/>
                <a:cs typeface="Tahoma"/>
              </a:rPr>
              <a:t>restrictions,</a:t>
            </a:r>
            <a:r>
              <a:rPr dirty="0" sz="1100">
                <a:latin typeface="Tahoma"/>
                <a:cs typeface="Tahoma"/>
              </a:rPr>
              <a:t> 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delivery address.</a:t>
            </a:r>
            <a:endParaRPr sz="1100">
              <a:latin typeface="Tahoma"/>
              <a:cs typeface="Tahoma"/>
            </a:endParaRPr>
          </a:p>
          <a:p>
            <a:pPr marL="469900" marR="378460" indent="-228600">
              <a:lnSpc>
                <a:spcPts val="1270"/>
              </a:lnSpc>
              <a:spcBef>
                <a:spcPts val="175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introduces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quick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onboarding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tutorial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(how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suggestions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&amp;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rapid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work).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100" b="1">
                <a:latin typeface="Arial"/>
                <a:cs typeface="Arial"/>
              </a:rPr>
              <a:t>Core</a:t>
            </a:r>
            <a:r>
              <a:rPr dirty="0" sz="1100" spc="-10" b="1">
                <a:latin typeface="Arial"/>
                <a:cs typeface="Arial"/>
              </a:rPr>
              <a:t> Experience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85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100" b="1">
                <a:latin typeface="Arial"/>
                <a:cs typeface="Arial"/>
              </a:rPr>
              <a:t>Step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1:</a:t>
            </a:r>
            <a:r>
              <a:rPr dirty="0" sz="1100" spc="4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opens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app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during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window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(e.g., </a:t>
            </a:r>
            <a:r>
              <a:rPr dirty="0" sz="1100">
                <a:latin typeface="Tahoma"/>
                <a:cs typeface="Tahoma"/>
              </a:rPr>
              <a:t>lunch</a:t>
            </a:r>
            <a:r>
              <a:rPr dirty="0" sz="1100" spc="-10">
                <a:latin typeface="Tahoma"/>
                <a:cs typeface="Tahoma"/>
              </a:rPr>
              <a:t> break).</a:t>
            </a:r>
            <a:endParaRPr sz="1100">
              <a:latin typeface="Tahoma"/>
              <a:cs typeface="Tahoma"/>
            </a:endParaRPr>
          </a:p>
          <a:p>
            <a:pPr lvl="1" marL="927100" marR="267970" indent="-229235">
              <a:lnSpc>
                <a:spcPts val="1280"/>
              </a:lnSpc>
              <a:spcBef>
                <a:spcPts val="220"/>
              </a:spcBef>
              <a:buChar char="○"/>
              <a:tabLst>
                <a:tab pos="927100" algn="l"/>
              </a:tabLst>
            </a:pP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immediately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suggests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shortlist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of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tailored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 spc="-25">
                <a:latin typeface="Tahoma"/>
                <a:cs typeface="Tahoma"/>
              </a:rPr>
              <a:t> the </a:t>
            </a:r>
            <a:r>
              <a:rPr dirty="0" sz="1100">
                <a:latin typeface="Tahoma"/>
                <a:cs typeface="Tahoma"/>
              </a:rPr>
              <a:t>user’s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profile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current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time/location.</a:t>
            </a:r>
            <a:endParaRPr sz="1100">
              <a:latin typeface="Tahoma"/>
              <a:cs typeface="Tahoma"/>
            </a:endParaRPr>
          </a:p>
          <a:p>
            <a:pPr lvl="1" marL="927100" marR="123825" indent="-229235">
              <a:lnSpc>
                <a:spcPts val="1270"/>
              </a:lnSpc>
              <a:spcBef>
                <a:spcPts val="185"/>
              </a:spcBef>
              <a:buChar char="○"/>
              <a:tabLst>
                <a:tab pos="927100" algn="l"/>
              </a:tabLst>
            </a:pPr>
            <a:r>
              <a:rPr dirty="0" sz="1100">
                <a:latin typeface="Tahoma"/>
                <a:cs typeface="Tahoma"/>
              </a:rPr>
              <a:t>Each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suggestion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shows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nutritional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info,</a:t>
            </a:r>
            <a:r>
              <a:rPr dirty="0" sz="1100">
                <a:latin typeface="Tahoma"/>
                <a:cs typeface="Tahoma"/>
              </a:rPr>
              <a:t> estimated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delivery/prep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time,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option</a:t>
            </a:r>
            <a:r>
              <a:rPr dirty="0" sz="1100" spc="-7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ingredients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only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fully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prepared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meal.</a:t>
            </a:r>
            <a:endParaRPr sz="1100">
              <a:latin typeface="Tahoma"/>
              <a:cs typeface="Tahoma"/>
            </a:endParaRPr>
          </a:p>
          <a:p>
            <a:pPr lvl="1" marL="927100" indent="-228600">
              <a:lnSpc>
                <a:spcPct val="100000"/>
              </a:lnSpc>
              <a:spcBef>
                <a:spcPts val="115"/>
              </a:spcBef>
              <a:buChar char="○"/>
              <a:tabLst>
                <a:tab pos="927100" algn="l"/>
              </a:tabLst>
            </a:pP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can</a:t>
            </a:r>
            <a:r>
              <a:rPr dirty="0" sz="1100" spc="-20">
                <a:latin typeface="Tahoma"/>
                <a:cs typeface="Tahoma"/>
              </a:rPr>
              <a:t> filter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request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new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suggestions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(e.g.,</a:t>
            </a:r>
            <a:r>
              <a:rPr dirty="0" sz="1100">
                <a:latin typeface="Tahoma"/>
                <a:cs typeface="Tahoma"/>
              </a:rPr>
              <a:t> vegetarian, </a:t>
            </a:r>
            <a:r>
              <a:rPr dirty="0" sz="1100" spc="-20">
                <a:latin typeface="Tahoma"/>
                <a:cs typeface="Tahoma"/>
              </a:rPr>
              <a:t>low-</a:t>
            </a:r>
            <a:r>
              <a:rPr dirty="0" sz="1100" spc="-10">
                <a:latin typeface="Tahoma"/>
                <a:cs typeface="Tahoma"/>
              </a:rPr>
              <a:t>carb).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20"/>
              </a:spcBef>
              <a:buFont typeface="Tahoma"/>
              <a:buChar char="●"/>
              <a:tabLst>
                <a:tab pos="469265" algn="l"/>
              </a:tabLst>
            </a:pPr>
            <a:r>
              <a:rPr dirty="0" sz="1100" b="1">
                <a:latin typeface="Arial"/>
                <a:cs typeface="Arial"/>
              </a:rPr>
              <a:t>Step</a:t>
            </a:r>
            <a:r>
              <a:rPr dirty="0" sz="1100" spc="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2:</a:t>
            </a:r>
            <a:r>
              <a:rPr dirty="0" sz="1100" spc="60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selects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their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desired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option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(ingredients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meal).</a:t>
            </a:r>
            <a:endParaRPr sz="1100">
              <a:latin typeface="Tahoma"/>
              <a:cs typeface="Tahoma"/>
            </a:endParaRPr>
          </a:p>
          <a:p>
            <a:pPr lvl="1" marL="927100" indent="-228600">
              <a:lnSpc>
                <a:spcPct val="100000"/>
              </a:lnSpc>
              <a:spcBef>
                <a:spcPts val="165"/>
              </a:spcBef>
              <a:buChar char="○"/>
              <a:tabLst>
                <a:tab pos="927100" algn="l"/>
              </a:tabLst>
            </a:pPr>
            <a:r>
              <a:rPr dirty="0" sz="1100">
                <a:latin typeface="Tahoma"/>
                <a:cs typeface="Tahoma"/>
              </a:rPr>
              <a:t>App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displays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visual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confirmation,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price,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 </a:t>
            </a:r>
            <a:r>
              <a:rPr dirty="0" sz="1100" spc="75">
                <a:latin typeface="Tahoma"/>
                <a:cs typeface="Tahoma"/>
              </a:rPr>
              <a:t>ETA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60">
                <a:latin typeface="Tahoma"/>
                <a:cs typeface="Tahoma"/>
              </a:rPr>
              <a:t>(&lt;15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minutes).</a:t>
            </a:r>
            <a:endParaRPr sz="1100">
              <a:latin typeface="Tahoma"/>
              <a:cs typeface="Tahoma"/>
            </a:endParaRPr>
          </a:p>
          <a:p>
            <a:pPr lvl="1" marL="927100" indent="-228600">
              <a:lnSpc>
                <a:spcPct val="100000"/>
              </a:lnSpc>
              <a:spcBef>
                <a:spcPts val="145"/>
              </a:spcBef>
              <a:buChar char="○"/>
              <a:tabLst>
                <a:tab pos="927100" algn="l"/>
              </a:tabLst>
            </a:pPr>
            <a:r>
              <a:rPr dirty="0" sz="1100">
                <a:latin typeface="Tahoma"/>
                <a:cs typeface="Tahoma"/>
              </a:rPr>
              <a:t>User pays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using embedded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payment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options.</a:t>
            </a:r>
            <a:endParaRPr sz="1100">
              <a:latin typeface="Tahoma"/>
              <a:cs typeface="Tahoma"/>
            </a:endParaRPr>
          </a:p>
          <a:p>
            <a:pPr marL="469900" marR="452755" indent="-228600">
              <a:lnSpc>
                <a:spcPts val="1300"/>
              </a:lnSpc>
              <a:spcBef>
                <a:spcPts val="180"/>
              </a:spcBef>
              <a:buFont typeface="Tahoma"/>
              <a:buChar char="●"/>
              <a:tabLst>
                <a:tab pos="469900" algn="l"/>
              </a:tabLst>
            </a:pPr>
            <a:r>
              <a:rPr dirty="0" sz="1100" b="1">
                <a:latin typeface="Arial"/>
                <a:cs typeface="Arial"/>
              </a:rPr>
              <a:t>Step</a:t>
            </a:r>
            <a:r>
              <a:rPr dirty="0" sz="1100" spc="1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3: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Order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routed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nearest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QuickBite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kitchen/hub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partner restaurant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rapid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preparation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dispatch.</a:t>
            </a:r>
            <a:endParaRPr sz="1100">
              <a:latin typeface="Tahoma"/>
              <a:cs typeface="Tahoma"/>
            </a:endParaRPr>
          </a:p>
          <a:p>
            <a:pPr lvl="1" marL="927100" indent="-228600">
              <a:lnSpc>
                <a:spcPct val="100000"/>
              </a:lnSpc>
              <a:spcBef>
                <a:spcPts val="100"/>
              </a:spcBef>
              <a:buChar char="○"/>
              <a:tabLst>
                <a:tab pos="927100" algn="l"/>
              </a:tabLst>
            </a:pPr>
            <a:r>
              <a:rPr dirty="0" sz="1100">
                <a:latin typeface="Tahoma"/>
                <a:cs typeface="Tahoma"/>
              </a:rPr>
              <a:t>Real-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order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tracking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available in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app.</a:t>
            </a:r>
            <a:endParaRPr sz="1100">
              <a:latin typeface="Tahoma"/>
              <a:cs typeface="Tahoma"/>
            </a:endParaRPr>
          </a:p>
          <a:p>
            <a:pPr marL="469900" marR="403860" indent="-228600">
              <a:lnSpc>
                <a:spcPts val="1300"/>
              </a:lnSpc>
              <a:spcBef>
                <a:spcPts val="180"/>
              </a:spcBef>
              <a:buFont typeface="Tahoma"/>
              <a:buChar char="●"/>
              <a:tabLst>
                <a:tab pos="469900" algn="l"/>
              </a:tabLst>
            </a:pPr>
            <a:r>
              <a:rPr dirty="0" sz="1100" b="1">
                <a:latin typeface="Arial"/>
                <a:cs typeface="Arial"/>
              </a:rPr>
              <a:t>Step</a:t>
            </a:r>
            <a:r>
              <a:rPr dirty="0" sz="1100" spc="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4:</a:t>
            </a:r>
            <a:r>
              <a:rPr dirty="0" sz="1100" spc="55" b="1">
                <a:latin typeface="Arial"/>
                <a:cs typeface="Arial"/>
              </a:rPr>
              <a:t> </a:t>
            </a: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receives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10">
                <a:latin typeface="Tahoma"/>
                <a:cs typeface="Tahoma"/>
              </a:rPr>
              <a:t> (doorstep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office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drop-</a:t>
            </a:r>
            <a:r>
              <a:rPr dirty="0" sz="1100" spc="-35">
                <a:latin typeface="Tahoma"/>
                <a:cs typeface="Tahoma"/>
              </a:rPr>
              <a:t>off)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 </a:t>
            </a:r>
            <a:r>
              <a:rPr dirty="0" sz="1100" spc="-10">
                <a:latin typeface="Tahoma"/>
                <a:cs typeface="Tahoma"/>
              </a:rPr>
              <a:t>optional </a:t>
            </a:r>
            <a:r>
              <a:rPr dirty="0" sz="1100" spc="-20">
                <a:latin typeface="Tahoma"/>
                <a:cs typeface="Tahoma"/>
              </a:rPr>
              <a:t>follow-</a:t>
            </a:r>
            <a:r>
              <a:rPr dirty="0" sz="1100">
                <a:latin typeface="Tahoma"/>
                <a:cs typeface="Tahoma"/>
              </a:rPr>
              <a:t>up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prompt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feedback.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1100" b="1">
                <a:latin typeface="Arial"/>
                <a:cs typeface="Arial"/>
              </a:rPr>
              <a:t>Advanced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Features</a:t>
            </a:r>
            <a:r>
              <a:rPr dirty="0" sz="1100" spc="-4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&amp;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Edge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spc="-20" b="1">
                <a:latin typeface="Arial"/>
                <a:cs typeface="Arial"/>
              </a:rPr>
              <a:t>Cases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8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Power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users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can</a:t>
            </a:r>
            <a:r>
              <a:rPr dirty="0" sz="1100" spc="7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pre-</a:t>
            </a:r>
            <a:r>
              <a:rPr dirty="0" sz="1100">
                <a:latin typeface="Tahoma"/>
                <a:cs typeface="Tahoma"/>
              </a:rPr>
              <a:t>schedule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recurring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orders.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adapts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suggestions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over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based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on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ratings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purchase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behavior.</a:t>
            </a:r>
            <a:endParaRPr sz="1100">
              <a:latin typeface="Tahoma"/>
              <a:cs typeface="Tahoma"/>
            </a:endParaRPr>
          </a:p>
          <a:p>
            <a:pPr marL="469900" marR="134620" indent="-228600">
              <a:lnSpc>
                <a:spcPts val="1270"/>
              </a:lnSpc>
              <a:spcBef>
                <a:spcPts val="225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Error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handling: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95">
                <a:latin typeface="Tahoma"/>
                <a:cs typeface="Tahoma"/>
              </a:rPr>
              <a:t>If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15-minute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temporarily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unavailable,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app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displays alternate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fast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options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compensation.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100" b="1">
                <a:latin typeface="Arial"/>
                <a:cs typeface="Arial"/>
              </a:rPr>
              <a:t>UI/UX</a:t>
            </a:r>
            <a:r>
              <a:rPr dirty="0" sz="1100" spc="-40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Highlights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85"/>
              </a:spcBef>
              <a:buChar char="●"/>
              <a:tabLst>
                <a:tab pos="469265" algn="l"/>
              </a:tabLst>
            </a:pPr>
            <a:r>
              <a:rPr dirty="0" sz="1100" spc="-30">
                <a:latin typeface="Tahoma"/>
                <a:cs typeface="Tahoma"/>
              </a:rPr>
              <a:t>Intuitive,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minimal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tap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journeys</a:t>
            </a:r>
            <a:r>
              <a:rPr dirty="0" sz="1100" spc="-6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selection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checkout.</a:t>
            </a:r>
            <a:endParaRPr sz="1100">
              <a:latin typeface="Tahoma"/>
              <a:cs typeface="Tahoma"/>
            </a:endParaRPr>
          </a:p>
          <a:p>
            <a:pPr marL="469900" marR="53975" indent="-228600">
              <a:lnSpc>
                <a:spcPts val="1270"/>
              </a:lnSpc>
              <a:spcBef>
                <a:spcPts val="225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Accessibility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for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dietary</a:t>
            </a:r>
            <a:r>
              <a:rPr dirty="0" sz="1100">
                <a:latin typeface="Tahoma"/>
                <a:cs typeface="Tahoma"/>
              </a:rPr>
              <a:t> restrictions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(e.g.,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allergens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flagged,</a:t>
            </a:r>
            <a:r>
              <a:rPr dirty="0" sz="1100" spc="-20">
                <a:latin typeface="Tahoma"/>
                <a:cs typeface="Tahoma"/>
              </a:rPr>
              <a:t> vegan/gluten-free </a:t>
            </a:r>
            <a:r>
              <a:rPr dirty="0" sz="1100" spc="-10">
                <a:latin typeface="Tahoma"/>
                <a:cs typeface="Tahoma"/>
              </a:rPr>
              <a:t>labeling).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1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Dark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mode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responsive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design</a:t>
            </a:r>
            <a:r>
              <a:rPr dirty="0" sz="1100" spc="-20">
                <a:latin typeface="Tahoma"/>
                <a:cs typeface="Tahoma"/>
              </a:rPr>
              <a:t> for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mobile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use.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Narrative</a:t>
            </a:r>
            <a:endParaRPr sz="1400">
              <a:latin typeface="Times New Roman"/>
              <a:cs typeface="Times New Roman"/>
            </a:endParaRPr>
          </a:p>
          <a:p>
            <a:pPr marL="12700" marR="29209">
              <a:lnSpc>
                <a:spcPct val="95600"/>
              </a:lnSpc>
              <a:spcBef>
                <a:spcPts val="625"/>
              </a:spcBef>
            </a:pPr>
            <a:r>
              <a:rPr dirty="0" sz="1100">
                <a:latin typeface="Tahoma"/>
                <a:cs typeface="Tahoma"/>
              </a:rPr>
              <a:t>Alex,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busy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marketing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manager,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faces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familiar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midday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dilemma: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limited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lunch </a:t>
            </a:r>
            <a:r>
              <a:rPr dirty="0" sz="1100">
                <a:latin typeface="Tahoma"/>
                <a:cs typeface="Tahoma"/>
              </a:rPr>
              <a:t>options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 back-</a:t>
            </a:r>
            <a:r>
              <a:rPr dirty="0" sz="1100" spc="-35">
                <a:latin typeface="Tahoma"/>
                <a:cs typeface="Tahoma"/>
              </a:rPr>
              <a:t>to-</a:t>
            </a:r>
            <a:r>
              <a:rPr dirty="0" sz="1100">
                <a:latin typeface="Tahoma"/>
                <a:cs typeface="Tahoma"/>
              </a:rPr>
              <a:t>back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meetings.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With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QuickBite,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Alex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receives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healthy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meal </a:t>
            </a:r>
            <a:r>
              <a:rPr dirty="0" sz="1100">
                <a:latin typeface="Tahoma"/>
                <a:cs typeface="Tahoma"/>
              </a:rPr>
              <a:t>recommendations </a:t>
            </a:r>
            <a:r>
              <a:rPr dirty="0" sz="1100" spc="-10">
                <a:latin typeface="Tahoma"/>
                <a:cs typeface="Tahoma"/>
              </a:rPr>
              <a:t>tailored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30">
                <a:latin typeface="Tahoma"/>
                <a:cs typeface="Tahoma"/>
              </a:rPr>
              <a:t>to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his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preferences,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selects a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in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seconds,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enjoys nutritious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food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delivered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office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before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his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next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call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begins.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Over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time,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the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AI </a:t>
            </a:r>
            <a:r>
              <a:rPr dirty="0" sz="1100">
                <a:latin typeface="Tahoma"/>
                <a:cs typeface="Tahoma"/>
              </a:rPr>
              <a:t>learns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Alex’s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dietary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goals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continuously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optimizes</a:t>
            </a:r>
            <a:r>
              <a:rPr dirty="0" sz="1100" spc="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suggestions.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This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seamless, </a:t>
            </a:r>
            <a:r>
              <a:rPr dirty="0" sz="1100">
                <a:latin typeface="Tahoma"/>
                <a:cs typeface="Tahoma"/>
              </a:rPr>
              <a:t>reliable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solution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not </a:t>
            </a:r>
            <a:r>
              <a:rPr dirty="0" sz="1100">
                <a:latin typeface="Tahoma"/>
                <a:cs typeface="Tahoma"/>
              </a:rPr>
              <a:t>only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boosts Alex’s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productivity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but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also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improves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his </a:t>
            </a:r>
            <a:r>
              <a:rPr dirty="0" sz="1100" spc="-10">
                <a:latin typeface="Tahoma"/>
                <a:cs typeface="Tahoma"/>
              </a:rPr>
              <a:t>well-</a:t>
            </a:r>
            <a:r>
              <a:rPr dirty="0" sz="1100">
                <a:latin typeface="Tahoma"/>
                <a:cs typeface="Tahoma"/>
              </a:rPr>
              <a:t>being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50">
                <a:latin typeface="Tahoma"/>
                <a:cs typeface="Tahoma"/>
              </a:rPr>
              <a:t>– </a:t>
            </a:r>
            <a:r>
              <a:rPr dirty="0" sz="1100" spc="-10">
                <a:latin typeface="Tahoma"/>
                <a:cs typeface="Tahoma"/>
              </a:rPr>
              <a:t>illustrating </a:t>
            </a:r>
            <a:r>
              <a:rPr dirty="0" sz="1100">
                <a:latin typeface="Tahoma"/>
                <a:cs typeface="Tahoma"/>
              </a:rPr>
              <a:t>how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QuickBite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transforms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healthy</a:t>
            </a:r>
            <a:r>
              <a:rPr dirty="0" sz="1100" spc="-4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eating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aspiration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daily reality.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825" y="1039506"/>
            <a:ext cx="5282565" cy="3175"/>
          </a:xfrm>
          <a:custGeom>
            <a:avLst/>
            <a:gdLst/>
            <a:ahLst/>
            <a:cxnLst/>
            <a:rect l="l" t="t" r="r" b="b"/>
            <a:pathLst>
              <a:path w="5282565" h="3175">
                <a:moveTo>
                  <a:pt x="5282044" y="114"/>
                </a:moveTo>
                <a:lnTo>
                  <a:pt x="5279390" y="114"/>
                </a:lnTo>
                <a:lnTo>
                  <a:pt x="0" y="0"/>
                </a:lnTo>
                <a:lnTo>
                  <a:pt x="0" y="3162"/>
                </a:lnTo>
                <a:lnTo>
                  <a:pt x="736" y="3162"/>
                </a:lnTo>
                <a:lnTo>
                  <a:pt x="3784" y="3162"/>
                </a:lnTo>
                <a:lnTo>
                  <a:pt x="5278983" y="3162"/>
                </a:lnTo>
                <a:lnTo>
                  <a:pt x="5279390" y="3162"/>
                </a:lnTo>
                <a:lnTo>
                  <a:pt x="5282044" y="3162"/>
                </a:lnTo>
                <a:lnTo>
                  <a:pt x="5282044" y="114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139825" y="5782309"/>
            <a:ext cx="5282565" cy="4445"/>
          </a:xfrm>
          <a:custGeom>
            <a:avLst/>
            <a:gdLst/>
            <a:ahLst/>
            <a:cxnLst/>
            <a:rect l="l" t="t" r="r" b="b"/>
            <a:pathLst>
              <a:path w="5282565" h="4445">
                <a:moveTo>
                  <a:pt x="5282044" y="1270"/>
                </a:moveTo>
                <a:lnTo>
                  <a:pt x="5279390" y="1270"/>
                </a:lnTo>
                <a:lnTo>
                  <a:pt x="5279390" y="0"/>
                </a:lnTo>
                <a:lnTo>
                  <a:pt x="0" y="0"/>
                </a:lnTo>
                <a:lnTo>
                  <a:pt x="0" y="2540"/>
                </a:lnTo>
                <a:lnTo>
                  <a:pt x="736" y="2540"/>
                </a:lnTo>
                <a:lnTo>
                  <a:pt x="736" y="4318"/>
                </a:lnTo>
                <a:lnTo>
                  <a:pt x="3784" y="4318"/>
                </a:lnTo>
                <a:lnTo>
                  <a:pt x="5278983" y="4318"/>
                </a:lnTo>
                <a:lnTo>
                  <a:pt x="5278983" y="2540"/>
                </a:lnTo>
                <a:lnTo>
                  <a:pt x="5279009" y="4318"/>
                </a:lnTo>
                <a:lnTo>
                  <a:pt x="5282044" y="4318"/>
                </a:lnTo>
                <a:lnTo>
                  <a:pt x="5282044" y="127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27861" y="1225042"/>
            <a:ext cx="4588510" cy="83953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Success</a:t>
            </a:r>
            <a:r>
              <a:rPr dirty="0" sz="1400" spc="-75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Metrics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User-</a:t>
            </a: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Centric</a:t>
            </a:r>
            <a:r>
              <a:rPr dirty="0" sz="1300" spc="-45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Metrics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Daily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active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users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Repeat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order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rate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Average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 meal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decision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 satisfaction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score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Business</a:t>
            </a:r>
            <a:r>
              <a:rPr dirty="0" sz="1300" spc="-65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Metrics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Order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volume/month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Customer </a:t>
            </a:r>
            <a:r>
              <a:rPr dirty="0" sz="1100" spc="-10">
                <a:latin typeface="Tahoma"/>
                <a:cs typeface="Tahoma"/>
              </a:rPr>
              <a:t>lifetime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value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(CLTV)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Conversion </a:t>
            </a:r>
            <a:r>
              <a:rPr dirty="0" sz="1100" spc="-20">
                <a:latin typeface="Tahoma"/>
                <a:cs typeface="Tahoma"/>
              </a:rPr>
              <a:t>rate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from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trial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to</a:t>
            </a:r>
            <a:r>
              <a:rPr dirty="0" sz="110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paid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Technical</a:t>
            </a:r>
            <a:r>
              <a:rPr dirty="0" sz="1300" spc="-80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Metrics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Average delivery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time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Platform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uptime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Order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fulfillment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accuracy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Tracking</a:t>
            </a:r>
            <a:r>
              <a:rPr dirty="0" sz="1300" spc="-75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20" b="1">
                <a:solidFill>
                  <a:srgbClr val="2D74B5"/>
                </a:solidFill>
                <a:latin typeface="Arial"/>
                <a:cs typeface="Arial"/>
              </a:rPr>
              <a:t>Plan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6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logins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suggestion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clicks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Orders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placed/completed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Feedback</a:t>
            </a:r>
            <a:r>
              <a:rPr dirty="0" sz="1100" spc="18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submissions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Char char="●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Tahoma"/>
              <a:buChar char="●"/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Technical</a:t>
            </a:r>
            <a:r>
              <a:rPr dirty="0" sz="1400" spc="-85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Considerations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Technical</a:t>
            </a:r>
            <a:r>
              <a:rPr dirty="0" sz="1300" spc="-80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Needs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7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recommendation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engine</a:t>
            </a:r>
            <a:r>
              <a:rPr dirty="0" sz="1100" spc="-9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for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meals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Mobile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app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(iOS/Android)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Order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management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dispatch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system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Char char="●"/>
              <a:tabLst>
                <a:tab pos="469265" algn="l"/>
              </a:tabLst>
            </a:pPr>
            <a:r>
              <a:rPr dirty="0" sz="1100" spc="-25">
                <a:latin typeface="Tahoma"/>
                <a:cs typeface="Tahoma"/>
              </a:rPr>
              <a:t>Integration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with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payment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gateway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Integration</a:t>
            </a:r>
            <a:r>
              <a:rPr dirty="0" sz="1300" spc="-80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Points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Partner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restaurants/kitchens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5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Real-</a:t>
            </a:r>
            <a:r>
              <a:rPr dirty="0" sz="1100" spc="-10">
                <a:latin typeface="Tahoma"/>
                <a:cs typeface="Tahoma"/>
              </a:rPr>
              <a:t>time</a:t>
            </a:r>
            <a:r>
              <a:rPr dirty="0" sz="1100">
                <a:latin typeface="Tahoma"/>
                <a:cs typeface="Tahoma"/>
              </a:rPr>
              <a:t> delivery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network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APIs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Data</a:t>
            </a:r>
            <a:r>
              <a:rPr dirty="0" sz="1300" spc="-40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Storage</a:t>
            </a:r>
            <a:r>
              <a:rPr dirty="0" sz="1300" spc="-35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&amp;</a:t>
            </a:r>
            <a:r>
              <a:rPr dirty="0" sz="1300" spc="-35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Privacy</a:t>
            </a:r>
            <a:endParaRPr sz="1300">
              <a:latin typeface="Arial"/>
              <a:cs typeface="Arial"/>
            </a:endParaRPr>
          </a:p>
          <a:p>
            <a:pPr marL="469900" marR="5080" indent="-228600">
              <a:lnSpc>
                <a:spcPts val="1270"/>
              </a:lnSpc>
              <a:spcBef>
                <a:spcPts val="640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Secure</a:t>
            </a:r>
            <a:r>
              <a:rPr dirty="0" sz="1100" spc="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storage </a:t>
            </a:r>
            <a:r>
              <a:rPr dirty="0" sz="1100" spc="-30">
                <a:latin typeface="Tahoma"/>
                <a:cs typeface="Tahoma"/>
              </a:rPr>
              <a:t>for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profiles, dietary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preferences,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and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payment information</a:t>
            </a:r>
            <a:r>
              <a:rPr dirty="0" sz="1100" spc="-60">
                <a:latin typeface="Tahoma"/>
                <a:cs typeface="Tahoma"/>
              </a:rPr>
              <a:t> </a:t>
            </a:r>
            <a:r>
              <a:rPr dirty="0" sz="1100" spc="60">
                <a:latin typeface="Tahoma"/>
                <a:cs typeface="Tahoma"/>
              </a:rPr>
              <a:t>(GDPR/CCPA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compliant)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Scalability</a:t>
            </a:r>
            <a:r>
              <a:rPr dirty="0" sz="1300" spc="-25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&amp;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Performance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Supports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spikes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during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meal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windows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via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elastic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cloud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services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0"/>
              </a:spcBef>
              <a:buChar char="●"/>
              <a:tabLst>
                <a:tab pos="469265" algn="l"/>
              </a:tabLst>
            </a:pPr>
            <a:r>
              <a:rPr dirty="0" sz="1100" spc="-10">
                <a:latin typeface="Tahoma"/>
                <a:cs typeface="Tahoma"/>
              </a:rPr>
              <a:t>Lightweight,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low-</a:t>
            </a:r>
            <a:r>
              <a:rPr dirty="0" sz="1100">
                <a:latin typeface="Tahoma"/>
                <a:cs typeface="Tahoma"/>
              </a:rPr>
              <a:t>latency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architecture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39825" y="1862454"/>
            <a:ext cx="5282565" cy="3810"/>
          </a:xfrm>
          <a:custGeom>
            <a:avLst/>
            <a:gdLst/>
            <a:ahLst/>
            <a:cxnLst/>
            <a:rect l="l" t="t" r="r" b="b"/>
            <a:pathLst>
              <a:path w="5282565" h="3810">
                <a:moveTo>
                  <a:pt x="5282044" y="520"/>
                </a:moveTo>
                <a:lnTo>
                  <a:pt x="5279390" y="520"/>
                </a:lnTo>
                <a:lnTo>
                  <a:pt x="5279390" y="0"/>
                </a:lnTo>
                <a:lnTo>
                  <a:pt x="0" y="0"/>
                </a:lnTo>
                <a:lnTo>
                  <a:pt x="0" y="3175"/>
                </a:lnTo>
                <a:lnTo>
                  <a:pt x="736" y="3175"/>
                </a:lnTo>
                <a:lnTo>
                  <a:pt x="736" y="3556"/>
                </a:lnTo>
                <a:lnTo>
                  <a:pt x="3784" y="3556"/>
                </a:lnTo>
                <a:lnTo>
                  <a:pt x="5278983" y="3556"/>
                </a:lnTo>
                <a:lnTo>
                  <a:pt x="5278983" y="3175"/>
                </a:lnTo>
                <a:lnTo>
                  <a:pt x="5279009" y="3556"/>
                </a:lnTo>
                <a:lnTo>
                  <a:pt x="5282044" y="3556"/>
                </a:lnTo>
                <a:lnTo>
                  <a:pt x="5282044" y="520"/>
                </a:lnTo>
                <a:close/>
              </a:path>
            </a:pathLst>
          </a:custGeom>
          <a:solidFill>
            <a:srgbClr val="9F9F9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27861" y="800123"/>
            <a:ext cx="5136515" cy="468630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Potential</a:t>
            </a:r>
            <a:r>
              <a:rPr dirty="0" sz="1300" spc="-15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Challenges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Maintaining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15-minute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80">
                <a:latin typeface="Tahoma"/>
                <a:cs typeface="Tahoma"/>
              </a:rPr>
              <a:t>SLA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during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peak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demand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Ensuring </a:t>
            </a:r>
            <a:r>
              <a:rPr dirty="0" sz="1100" spc="-20">
                <a:latin typeface="Tahoma"/>
                <a:cs typeface="Tahoma"/>
              </a:rPr>
              <a:t>nutritional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accuracy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4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Building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reliable</a:t>
            </a:r>
            <a:r>
              <a:rPr dirty="0" sz="1100" spc="-4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last-mile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delivery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buFont typeface="Tahoma"/>
              <a:buChar char="●"/>
            </a:pP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"/>
              </a:spcBef>
              <a:buFont typeface="Tahoma"/>
              <a:buChar char="●"/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Milestones</a:t>
            </a:r>
            <a:r>
              <a:rPr dirty="0" sz="1400" spc="5" b="1">
                <a:solidFill>
                  <a:srgbClr val="2D74B5"/>
                </a:solidFill>
                <a:latin typeface="Times New Roman"/>
                <a:cs typeface="Times New Roman"/>
              </a:rPr>
              <a:t> </a:t>
            </a:r>
            <a:r>
              <a:rPr dirty="0" sz="1400" b="1">
                <a:solidFill>
                  <a:srgbClr val="2D74B5"/>
                </a:solidFill>
                <a:latin typeface="Times New Roman"/>
                <a:cs typeface="Times New Roman"/>
              </a:rPr>
              <a:t>&amp;</a:t>
            </a:r>
            <a:r>
              <a:rPr dirty="0" sz="1400" spc="-10" b="1">
                <a:solidFill>
                  <a:srgbClr val="2D74B5"/>
                </a:solidFill>
                <a:latin typeface="Times New Roman"/>
                <a:cs typeface="Times New Roman"/>
              </a:rPr>
              <a:t> Sequencing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Project</a:t>
            </a:r>
            <a:r>
              <a:rPr dirty="0" sz="1300" spc="-30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Estimate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5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Medium: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2–4 weeks</a:t>
            </a:r>
            <a:r>
              <a:rPr dirty="0" sz="1100" spc="-5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for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 spc="50">
                <a:latin typeface="Tahoma"/>
                <a:cs typeface="Tahoma"/>
              </a:rPr>
              <a:t>MVP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Team</a:t>
            </a:r>
            <a:r>
              <a:rPr dirty="0" sz="1300" spc="-30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Size</a:t>
            </a:r>
            <a:r>
              <a:rPr dirty="0" sz="1300" spc="-30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b="1">
                <a:solidFill>
                  <a:srgbClr val="2D74B5"/>
                </a:solidFill>
                <a:latin typeface="Arial"/>
                <a:cs typeface="Arial"/>
              </a:rPr>
              <a:t>&amp;</a:t>
            </a:r>
            <a:r>
              <a:rPr dirty="0" sz="1300" spc="-30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Composition</a:t>
            </a:r>
            <a:endParaRPr sz="13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8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Small</a:t>
            </a:r>
            <a:r>
              <a:rPr dirty="0" sz="1100" spc="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Team: 2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people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(Product/Design,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Engineering)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Suggested</a:t>
            </a:r>
            <a:r>
              <a:rPr dirty="0" sz="1300" spc="-25" b="1">
                <a:solidFill>
                  <a:srgbClr val="2D74B5"/>
                </a:solidFill>
                <a:latin typeface="Arial"/>
                <a:cs typeface="Arial"/>
              </a:rPr>
              <a:t> </a:t>
            </a:r>
            <a:r>
              <a:rPr dirty="0" sz="1300" spc="-10" b="1">
                <a:solidFill>
                  <a:srgbClr val="2D74B5"/>
                </a:solidFill>
                <a:latin typeface="Arial"/>
                <a:cs typeface="Arial"/>
              </a:rPr>
              <a:t>Phases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100" b="1">
                <a:latin typeface="Arial"/>
                <a:cs typeface="Arial"/>
              </a:rPr>
              <a:t>Phase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1: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MVP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Launch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(2</a:t>
            </a:r>
            <a:r>
              <a:rPr dirty="0" sz="1100" spc="-3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weeks)</a:t>
            </a:r>
            <a:endParaRPr sz="1100">
              <a:latin typeface="Arial"/>
              <a:cs typeface="Arial"/>
            </a:endParaRPr>
          </a:p>
          <a:p>
            <a:pPr marL="469900" marR="58419" indent="-228600">
              <a:lnSpc>
                <a:spcPts val="1270"/>
              </a:lnSpc>
              <a:spcBef>
                <a:spcPts val="1070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Key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Deliverables: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-10">
                <a:latin typeface="Tahoma"/>
                <a:cs typeface="Tahoma"/>
              </a:rPr>
              <a:t> onboarding,</a:t>
            </a:r>
            <a:r>
              <a:rPr dirty="0" sz="1100">
                <a:latin typeface="Tahoma"/>
                <a:cs typeface="Tahoma"/>
              </a:rPr>
              <a:t> AI meal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recommendation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engine,</a:t>
            </a:r>
            <a:r>
              <a:rPr dirty="0" sz="1100" spc="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core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flow,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basic </a:t>
            </a:r>
            <a:r>
              <a:rPr dirty="0" sz="1100" spc="-10">
                <a:latin typeface="Tahoma"/>
                <a:cs typeface="Tahoma"/>
              </a:rPr>
              <a:t>analytics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10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Dependencies: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Partner kitchens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setup,</a:t>
            </a:r>
            <a:r>
              <a:rPr dirty="0" sz="1100" spc="-1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delivery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API</a:t>
            </a:r>
            <a:r>
              <a:rPr dirty="0" sz="1100" spc="-10">
                <a:latin typeface="Tahoma"/>
                <a:cs typeface="Tahoma"/>
              </a:rPr>
              <a:t> integration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latin typeface="Arial"/>
                <a:cs typeface="Arial"/>
              </a:rPr>
              <a:t>Phase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2:</a:t>
            </a:r>
            <a:r>
              <a:rPr dirty="0" sz="1100" spc="1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Personalization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+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Scaling</a:t>
            </a:r>
            <a:r>
              <a:rPr dirty="0" sz="1100" spc="-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(2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10" b="1">
                <a:latin typeface="Arial"/>
                <a:cs typeface="Arial"/>
              </a:rPr>
              <a:t>weeks)</a:t>
            </a:r>
            <a:endParaRPr sz="1100">
              <a:latin typeface="Arial"/>
              <a:cs typeface="Arial"/>
            </a:endParaRPr>
          </a:p>
          <a:p>
            <a:pPr marL="469900" marR="5080" indent="-228600">
              <a:lnSpc>
                <a:spcPts val="1270"/>
              </a:lnSpc>
              <a:spcBef>
                <a:spcPts val="1065"/>
              </a:spcBef>
              <a:buChar char="●"/>
              <a:tabLst>
                <a:tab pos="469900" algn="l"/>
              </a:tabLst>
            </a:pPr>
            <a:r>
              <a:rPr dirty="0" sz="1100">
                <a:latin typeface="Tahoma"/>
                <a:cs typeface="Tahoma"/>
              </a:rPr>
              <a:t>Key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Deliverables: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Adaptive</a:t>
            </a:r>
            <a:r>
              <a:rPr dirty="0" sz="1100" spc="-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AI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recommendations,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advanced</a:t>
            </a:r>
            <a:r>
              <a:rPr dirty="0" sz="1100" spc="-10">
                <a:latin typeface="Tahoma"/>
                <a:cs typeface="Tahoma"/>
              </a:rPr>
              <a:t> dietary</a:t>
            </a:r>
            <a:r>
              <a:rPr dirty="0" sz="1100" spc="-2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filtering, real-</a:t>
            </a:r>
            <a:r>
              <a:rPr dirty="0" sz="1100">
                <a:latin typeface="Tahoma"/>
                <a:cs typeface="Tahoma"/>
              </a:rPr>
              <a:t>time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tracking,</a:t>
            </a:r>
            <a:r>
              <a:rPr dirty="0" sz="1100" spc="-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user</a:t>
            </a:r>
            <a:r>
              <a:rPr dirty="0" sz="1100" spc="-2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feedback</a:t>
            </a:r>
            <a:r>
              <a:rPr dirty="0" sz="1100" spc="5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loops</a:t>
            </a:r>
            <a:endParaRPr sz="1100">
              <a:latin typeface="Tahoma"/>
              <a:cs typeface="Tahoma"/>
            </a:endParaRPr>
          </a:p>
          <a:p>
            <a:pPr marL="469265" indent="-227965">
              <a:lnSpc>
                <a:spcPct val="100000"/>
              </a:lnSpc>
              <a:spcBef>
                <a:spcPts val="114"/>
              </a:spcBef>
              <a:buChar char="●"/>
              <a:tabLst>
                <a:tab pos="469265" algn="l"/>
              </a:tabLst>
            </a:pPr>
            <a:r>
              <a:rPr dirty="0" sz="1100">
                <a:latin typeface="Tahoma"/>
                <a:cs typeface="Tahoma"/>
              </a:rPr>
              <a:t>Dependencies:</a:t>
            </a:r>
            <a:r>
              <a:rPr dirty="0" sz="1100" spc="1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Scalable</a:t>
            </a:r>
            <a:r>
              <a:rPr dirty="0" sz="1100" spc="55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cloud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 spc="-20">
                <a:latin typeface="Tahoma"/>
                <a:cs typeface="Tahoma"/>
              </a:rPr>
              <a:t>infrastructure,</a:t>
            </a:r>
            <a:r>
              <a:rPr dirty="0" sz="1100" spc="5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data</a:t>
            </a:r>
            <a:r>
              <a:rPr dirty="0" sz="1100" spc="2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privacy</a:t>
            </a:r>
            <a:r>
              <a:rPr dirty="0" sz="1100" spc="40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compliance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Un-named</dc:creator>
  <dcterms:created xsi:type="dcterms:W3CDTF">2026-07-30T04:15:03Z</dcterms:created>
  <dcterms:modified xsi:type="dcterms:W3CDTF">2026-07-30T04:15:03Z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2026-07-30T00:00:00Z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2026-07-30T00:00:00Z</vt:filetime>
  </property>
  <property fmtid="{D5CDD505-2E9C-101B-9397-08002B2CF9AE}" pid="6" name="Producer">
    <vt:lpwstr>www.ilovepdf.com</vt:lpwstr>
  </property>
</Properties>
</file>